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728655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SEMICONDUCTOR QUALITY ASSURANCE &amp; INDUSTRIAL AI</a:t>
            </a:r>
          </a:p>
          <a:p>
            <a:pPr>
              <a:spcBef>
                <a:spcPts val="1000"/>
              </a:spcBef>
              <a:spcAft>
                <a:spcPts val="1000"/>
              </a:spcAft>
              <a:defRPr sz="2800" b="1">
                <a:solidFill>
                  <a:srgbClr val="F8FAFC"/>
                </a:solidFill>
              </a:defRPr>
            </a:pPr>
            <a:r>
              <a:t>Semiconductor Wafer Defect Classification using Deep Learning &amp; Explainable AI (XAI)</a:t>
            </a:r>
          </a:p>
          <a:p>
            <a:pPr>
              <a:spcAft>
                <a:spcPts val="2500"/>
              </a:spcAft>
              <a:defRPr sz="1600">
                <a:solidFill>
                  <a:srgbClr val="94A3B8"/>
                </a:solidFill>
              </a:defRPr>
            </a:pPr>
            <a:r>
              <a:t>Automated Visual Inspection &amp; Root-Cause Analytics for Fab 4.0 Cleanroom Manufacturing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• Top Model Accuracy: 92.00% (ResNet50)   • Dataset Size: 90,043 Wafer Maps   • 9 Defect Classes &amp; Fab Equipment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Semiconductor Visual Inspection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EF4444"/>
                </a:solidFill>
              </a:defRPr>
            </a:pPr>
            <a:r>
              <a:t>⚠️ The High Cost of Defect Propagation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Integrated Circuit (IC) fabrication involves sub-micron transistor geometry across 300mm silicon wafers.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Physical anomalies during photolithography, CVD deposition, or CMP polishing create spatial defect patterns.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Undetected pattern defects propagate through multi-week manufacturing pipelines, causing millions of dollars in lost silicon yield.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👁️ Manual Cleanroom Inspection Deficiencies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Slow Processing: Human inspection cannot match high-volume line speeds (thousands of wafers/day).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Subjective &amp; Inconsistent: Inspection accuracy drops sharply over multi-hour cleanroom shifts.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Opaque Diagnostic Gap: Operators identify visual flaws but struggle to pinpoint specific faulty equipment components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Solution: WaferScan Pro AI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🧠 Automated AI Classification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Deep transfer learning (ResNet50) classifying 9 spatial defect categories with 92.00% accuracy on 90,043 wafer 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🔥 Grad-CAM Explainability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Gradient activation heatmaps target final conv layer (conv5_block3_out) to give engineers visual proof of defect location.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🛠️ Fab Action Engine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Automated lookup rules linking defect patterns directly to specific equipment maintenance actions (e.g., spin-coater, CVD showerhead).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Wafer Map Dataset &amp; Spatial Defect Taxonomy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Defect Class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Primary Equipment Cause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Fab Maintenance Action</a:t>
                      </a:r>
                    </a:p>
                  </a:txBody>
                  <a:tcPr>
                    <a:solidFill>
                      <a:srgbClr val="0284C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Center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Spin-coater dispense nozzle alignment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Inspect nozzle alignment &amp; center exhaust airflow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Donut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CVD/ALD chemical deposition non-uniformity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Recalibrate gas distribution showerhead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Edge-Loc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Edge Bevel Removal (EBR) / robot clamp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Inspect EBR cleaning &amp; robot end-effector clamps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Edge-Ring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Plasma etch focus ring wear / RF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Audit plasma etch chamber edge ring wear &amp; RF bias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Loc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Stepper lens contamination / reticle dust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Perform particle count check &amp; clean stepper lens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Near-full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Slurry contamination / total power failure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Emergency quarantine lot &amp; inspect main chemical lines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Random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Cleanroom airborne particulate contamination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Schedule airborne particle monitoring &amp; HEPA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Scratch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F4444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Robot transfer arm pin scratch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Inspect mechanical transfer arms &amp; cassette pin alignment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Normal defect-free wafer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Approve wafer lot for next process node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Inspection Pipeline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Input Wafer Map  —  </a:t>
            </a:r>
            <a:r>
              <a:rPr sz="1200" b="0">
                <a:solidFill>
                  <a:srgbClr val="F8FAFC"/>
                </a:solidFill>
              </a:rPr>
              <a:t>224 x 224 x 3 RGB/Greyscale silicon wafer spatial maps.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Preprocessing  —  </a:t>
            </a:r>
            <a:r>
              <a:rPr sz="1200" b="0">
                <a:solidFill>
                  <a:srgbClr val="F8FAFC"/>
                </a:solidFill>
              </a:rPr>
              <a:t>Normalization, contrast adjustment, and dynamic augmentations.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3. ResNet50 Core  —  </a:t>
            </a:r>
            <a:r>
              <a:rPr sz="1200" b="0">
                <a:solidFill>
                  <a:srgbClr val="F8FAFC"/>
                </a:solidFill>
              </a:rPr>
              <a:t>Fine-tuned deep residual backbone extracts hierarchical visual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062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Classification Head  —  </a:t>
            </a:r>
            <a:r>
              <a:rPr sz="1200" b="0">
                <a:solidFill>
                  <a:srgbClr val="F8FAFC"/>
                </a:solidFill>
              </a:rPr>
              <a:t>GAP2D -&gt; BatchNorm -&gt; Dropout -&gt; Dense(256) -&gt; Dense(9, Softmax).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2865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5. Grad-CAM &amp; Action  —  </a:t>
            </a:r>
            <a:r>
              <a:rPr sz="1200" b="0">
                <a:solidFill>
                  <a:srgbClr val="F8FAFC"/>
                </a:solidFill>
              </a:rPr>
              <a:t>Gradient activation maps + automated equipment remediation lookup.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Deep Learning Architecture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Custom CNN (Baseline)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44.22% Test Acc | ~1.2M Parameters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4 Convolutional blocks (32, 64, 128, 256 filters)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Standard Conv2D + MaxPooling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Built from scratch as performance baseline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Suffered from severe spatial pattern underfitting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MobileNetV2 (Edge AI)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79.78% Test Acc | ~3.5M Parameters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Pre-trained ImageNet backbone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Inverted residual bottleneck blocks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Depthwise separable convolutions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Optimized for low-memory cleanroom edge devices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7432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ResNet50 (Champion)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92.00% Test Acc | ~25.6M Parameters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Deep residual skip connections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Mitigates vanishing gradients in complex patterns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Fine-tuned top 120 layers in Stage 2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• Delivers top classification accuracy &amp; low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Progressive Two-Stage Fine-Tuning &amp; MLOps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🔄 Two-Stage Fine-Tuning Strategy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Stage 1 (Feature Head Training): Freeze backbone, train custom dense classification head for 10 epochs at LR = 1e-3 (Adam).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Stage 2 (Deep Backbone Fine-Tuning): Unfreeze top 120 layers of ResNet50 backbone. Fine-tune end-to-end for 40 epochs at LR = 1e-5.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Dynamic LR Reduction: ReduceLROnPlateau callback automatically scales learning rate by factor 0.2 when validation accuracy plateaus.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⚡ Hardware Acceleration &amp; Pipelines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Mixed Precision Training (mixed_float16): Reduced GPU memory footprint by 50% and accelerated matrix multiplication by 2.1x.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XLA (Accelerated Linear Algebra): Domain-specific compiler optimization fused layer operations for higher throughput.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tf.data Autotuning: Caching (cache()) and prefetching (prefetch()) eliminated I/O bottlenecks during batch loading.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Explainable AI (Grad-CAM) Visual Root-Cause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28655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🔥 Demystifying 'Black-Box' AI in Cleanroom Inspection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Grad-CAM (Gradient-weighted Class Activation Mapping) calculates gradients of target class scores with respect to feature maps in conv5_block3_out.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Technical Innovation: Keras nested backbone sub-models break standard gradient propagation. Solved via a custom dual-stage tf.GradientTape watching feature activation maps and replaying remaining dense layers.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• Engineering Value: Provides visual proof of defect location (e.g., verifying edge-ring geometry vs center cluster), building process engineer trust prior to executing expensive tool shutdowns.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Industrial Web Application ('WaferScan Pro AI')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⚡ Real-Time Visual Inspection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Single &amp; batch image drag-and-drop with instant confidence metrics and probability distribution bar charts.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554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🌐 Spatial Polar Density Map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Overlays defect pixel coordinates onto a polar wafer grid for instant spatial pattern recognition.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🛠️ Automated Action Engine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Displays color-coded severity badges (Critical, High, Medium, Pass) with specific equipment troubleshooting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📥 Comprehensive Diagnostic Reports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Auto-generates downloadable text and JSON reports for cleanroom audit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Financial ROI &amp; Cleanroom Productivity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15-20%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Yield Scrap Reduction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Early detection of systematic tool drift stops defect propagation across subsequent wafer lots.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55448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90%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Diagnostic MTTR Cut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Automated root-cause remediation guidance reduces diagnostic time from hours to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55448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&lt; 25 ms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Inline Latency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High-speed inference matches real-time high-throughput inline cleanroom conveyor speeds.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554480"/>
            <a:ext cx="24688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365760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100%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</a:defRPr>
            </a:pPr>
            <a:r>
              <a:t>Standardized QA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Eliminates operator fatigue and subjective human bias across all manufacturing shifts worldwide.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SEMICONDUCTOR INDUSTRIAL AI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Technical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✅ Key Project Achievements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Evaluated 3 deep learning architectures across 90,043 silicon wafer maps.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Achieved 92.00% top test accuracy with fine-tuned ResNet50.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Integrated Grad-CAM Explainable AI for transparent root-cause verification.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Deployed an interactive Streamlit industrial dashboard with automated fab remediation advice.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🚀 Future Technical Roadmap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Multi-Label Compound Defects: Detect simultaneous flaws (e.g., Scratch + Edge-Ring).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Vision Transformers (ViT): Benchmark Swin Transformers for long-range spatial self-attention.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Edge Acceleration (TensorRT): Convert model graph for sub-5ms latency on cleanroom edge devices.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SECS/GEM Protocol Integration: Connect API directly to fab communication protocol for automated tool interlocks.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